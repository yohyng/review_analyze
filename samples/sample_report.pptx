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風の海</c:v>
                </c:pt>
              </c:strCache>
            </c:strRef>
          </c:tx>
          <c:spPr>
            <a:solidFill>
              <a:srgbClr val="2980B9"/>
            </a:solidFill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スタッフ対応</c:v>
                </c:pt>
                <c:pt idx="1">
                  <c:v>清潔感</c:v>
                </c:pt>
                <c:pt idx="2">
                  <c:v>立地</c:v>
                </c:pt>
                <c:pt idx="3">
                  <c:v>設備</c:v>
                </c:pt>
                <c:pt idx="4">
                  <c:v>食事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92.0</c:v>
                </c:pt>
                <c:pt idx="1">
                  <c:v>84.0</c:v>
                </c:pt>
                <c:pt idx="2">
                  <c:v>96.0</c:v>
                </c:pt>
                <c:pt idx="3">
                  <c:v>70.0</c:v>
                </c:pt>
                <c:pt idx="4">
                  <c:v>78.0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比較施設の平均（1施設）</c:v>
                </c:pt>
              </c:strCache>
            </c:strRef>
          </c:tx>
          <c:spPr>
            <a:solidFill>
              <a:srgbClr val="E67E22"/>
            </a:solidFill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スタッフ対応</c:v>
                </c:pt>
                <c:pt idx="1">
                  <c:v>清潔感</c:v>
                </c:pt>
                <c:pt idx="2">
                  <c:v>立地</c:v>
                </c:pt>
                <c:pt idx="3">
                  <c:v>設備</c:v>
                </c:pt>
                <c:pt idx="4">
                  <c:v>食事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70.0</c:v>
                </c:pt>
                <c:pt idx="1">
                  <c:v>76.0</c:v>
                </c:pt>
                <c:pt idx="2">
                  <c:v>64.0</c:v>
                </c:pt>
                <c:pt idx="3">
                  <c:v>78.0</c:v>
                </c:pt>
                <c:pt idx="4">
                  <c:v>82.0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風の海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スタッフ対応</c:v>
                </c:pt>
                <c:pt idx="1">
                  <c:v>清潔感</c:v>
                </c:pt>
                <c:pt idx="2">
                  <c:v>立地</c:v>
                </c:pt>
                <c:pt idx="3">
                  <c:v>設備</c:v>
                </c:pt>
                <c:pt idx="4">
                  <c:v>食事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92.0</c:v>
                </c:pt>
                <c:pt idx="1">
                  <c:v>84.0</c:v>
                </c:pt>
                <c:pt idx="2">
                  <c:v>96.0</c:v>
                </c:pt>
                <c:pt idx="3">
                  <c:v>70.0</c:v>
                </c:pt>
                <c:pt idx="4">
                  <c:v>78.0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比較施設の平均（1施設）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Sheet1!$A$2:$A$6</c:f>
              <c:strCache>
                <c:ptCount val="5"/>
                <c:pt idx="0">
                  <c:v>スタッフ対応</c:v>
                </c:pt>
                <c:pt idx="1">
                  <c:v>清潔感</c:v>
                </c:pt>
                <c:pt idx="2">
                  <c:v>立地</c:v>
                </c:pt>
                <c:pt idx="3">
                  <c:v>設備</c:v>
                </c:pt>
                <c:pt idx="4">
                  <c:v>食事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70.0</c:v>
                </c:pt>
                <c:pt idx="1">
                  <c:v>76.0</c:v>
                </c:pt>
                <c:pt idx="2">
                  <c:v>64.0</c:v>
                </c:pt>
                <c:pt idx="3">
                  <c:v>78.0</c:v>
                </c:pt>
                <c:pt idx="4">
                  <c:v>82.0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口コミ分析レポート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74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CF0F1"/>
                </a:solidFill>
              </a:rPr>
              <a:t>対象施設：風の海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</a:rPr>
              <a:t>比較基準：比較施設の平均（1施設）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</a:rPr>
              <a:t>作成日：2026年06月04日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3A5F"/>
                </a:solidFill>
              </a:rPr>
              <a:t>「風の海」は海沿いの立地と全室個室露天風呂による景観体験、そしてスタッフの丁寧な接客が高く評価されている。一方で館内設備の老朽化と食事提供オペレーションに改善余地があり、比較施設に対する弱点となっ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356616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8C8D"/>
                </a:solidFill>
              </a:rPr>
              <a:t>口コミ件数</a:t>
            </a:r>
          </a:p>
          <a:p>
            <a:pPr algn="ctr"/>
            <a:r>
              <a:rPr sz="2200" b="1">
                <a:solidFill>
                  <a:srgbClr val="2980B9"/>
                </a:solidFill>
              </a:rPr>
              <a:t>12 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2926080"/>
            <a:ext cx="356616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8C8D"/>
                </a:solidFill>
              </a:rPr>
              <a:t>最大の強み</a:t>
            </a:r>
          </a:p>
          <a:p>
            <a:pPr algn="ctr"/>
            <a:r>
              <a:rPr sz="2200" b="1">
                <a:solidFill>
                  <a:srgbClr val="27AE60"/>
                </a:solidFill>
              </a:rPr>
              <a:t>立地
+32.0pt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926080"/>
            <a:ext cx="356616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8C8D"/>
                </a:solidFill>
              </a:rPr>
              <a:t>最大の弱み</a:t>
            </a:r>
          </a:p>
          <a:p>
            <a:pPr algn="ctr"/>
            <a:r>
              <a:rPr sz="2200" b="1">
                <a:solidFill>
                  <a:srgbClr val="C0392B"/>
                </a:solidFill>
              </a:rPr>
              <a:t>設備
-8.0pt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スコア比較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風の海  vs  比較施設の平均（1施設）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80160"/>
          <a:ext cx="56692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80160"/>
          <a:ext cx="55778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強み・弱み TOP5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比較基準：比較施設の平均（1施設）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💪 強み TOP5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差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立地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+32.0pt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スタッフ対応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+22.0pt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清潔感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AE60"/>
                          </a:solidFill>
                        </a:rPr>
                        <a:t>+8.0pt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⚠️ 弱み TOP5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4592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差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設備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392B"/>
                          </a:solidFill>
                        </a:rPr>
                        <a:t>-8.0pt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食事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392B"/>
                          </a:solidFill>
                        </a:rPr>
                        <a:t>-4.0pt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テキスト分析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対象口コミ 12 件 / TF-IDF・N-gram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80B9"/>
                </a:solidFill>
              </a:rPr>
              <a:t>特徴キーワード（TF-IDF TOP10）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913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単語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スコア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景色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丁寧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0.332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部屋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スタッフ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0.283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食事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最高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0.199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古い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料理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0.189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接客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設備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0.189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頻出フレーズ（バイグラム TOP10）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4592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フレーズ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接客 丁寧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スタッフ 対応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対応 丁寧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部屋 景色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景色 最高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設備 古い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スタッフ 接客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食事 提供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提供 遅い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3A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インサイト①　強み・弱み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LLMによる分析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💪 強み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・立地・景観：海を一望できるロケーションと露天風呂が口コミで最も高評価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・接客品質：スタッフの心遣い・記念日対応が顧客満足を牽引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・清潔感：客室の清潔さが安定して評価されている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⚠️ 弱み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・設備の老朽化：空調・お湯の温度・脱衣所など設備面の不満が散見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・食事提供の遅延：料理の質は高いが提供スピードに不満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・比較施設に対し設備スコアが劣後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インサイト②　示唆・改善提案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LLMによる分析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980B9"/>
                </a:solidFill>
              </a:rPr>
              <a:t>💡 示唆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・強み（立地・接客）は維持コストが低く、訴求の軸に据えるべき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・弱み（設備・オペ）は投資・運用改善で解消可能な性質のもの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</a:rPr>
              <a:t>🔧 改善提案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・客室設備（空調・給湯）の計画的な更新・点検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・食事提供フローの見直し（厨房動線・配膳タイミングの最適化）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A5F"/>
                </a:solidFill>
              </a:rPr>
              <a:t>・高評価の景観・露天風呂を予約サイトの主要訴求として強化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